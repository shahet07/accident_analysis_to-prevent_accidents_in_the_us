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1828800"/>
          </a:xfrm>
          <a:prstGeom prst="rect">
            <a:avLst/>
          </a:prstGeom>
          <a:solidFill>
            <a:srgbClr val="14A3A8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 Traffic Accidents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Project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Analysis &amp; Business Recommendations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526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Bhavesh Shah  |  Mohini Yadav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4526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 |  SCU MSIS  | 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Implementation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 Summary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Queries (7 Business Questions)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Visualizations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365760" cy="36576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Q&amp;A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build a data warehouse to analyze US traffic accidents and provide actionable insights for traffic safety improvements, infrastructure planning, and emergency response optimization.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201168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1.5M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from 7.7M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228600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2286000"/>
            <a:ext cx="201168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Years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06040" y="2926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3154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2016 - 2023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86000"/>
            <a:ext cx="201168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54880" y="2926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154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Coverage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228600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2286000"/>
            <a:ext cx="2011680" cy="7315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423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03720" y="2926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Queries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31546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8800" y="4023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0" y="4023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40233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0D7377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234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- US Accidents (2016-2023)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18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6184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Million records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025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11680" y="20025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Million records (random sample)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3865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3865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columns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770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Range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11680" y="27706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2016 - March 2023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US States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Features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Severity (1-4 scale)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Location (State, City, County, Zipcode)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Time (Start/End timestamps)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Weather (Condition, Temperature, Visibility)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880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Road Features (13 boolean flags)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Duration &amp; Distance metrics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886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Quality: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1168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fields (ID, State, City, Severity) have 0% missing values. Weather data has 2-7% missing (handled with 'Unknown' category).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 Schema Implementation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0" y="1828800"/>
            <a:ext cx="2194560" cy="164592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FACT_ACCIDENT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22402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(FK)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Time_Key (FK)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Location_Key (FK)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Weather_Key (FK)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Duration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Distance_mi, ID_DD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170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 (PK)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Full_Date, Year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DayOfWeek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2,553 rows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170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DIM_TIME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Time_Key (PK)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Hour, Minute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TimeOfDay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1,440 rows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82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DIM_LOCATION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474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Location_Key (PK)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City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County, Zipcode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0233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294,884 rows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3108960"/>
            <a:ext cx="20116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182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DIM_WEATHER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474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Weather_Key (PK)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Temp_Category, Visibility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40233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 rows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1691640"/>
            <a:ext cx="731520" cy="0"/>
          </a:xfrm>
          <a:prstGeom prst="line">
            <a:avLst/>
          </a:prstGeom>
          <a:noFill/>
          <a:ln w="25400">
            <a:solidFill>
              <a:srgbClr val="14A3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1691640"/>
            <a:ext cx="548640" cy="0"/>
          </a:xfrm>
          <a:prstGeom prst="line">
            <a:avLst/>
          </a:prstGeom>
          <a:noFill/>
          <a:ln w="25400">
            <a:solidFill>
              <a:srgbClr val="14A3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3703320"/>
            <a:ext cx="731520" cy="0"/>
          </a:xfrm>
          <a:prstGeom prst="line">
            <a:avLst/>
          </a:prstGeom>
          <a:noFill/>
          <a:ln w="25400">
            <a:solidFill>
              <a:srgbClr val="14A3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3703320"/>
            <a:ext cx="548640" cy="0"/>
          </a:xfrm>
          <a:prstGeom prst="line">
            <a:avLst/>
          </a:prstGeom>
          <a:noFill/>
          <a:ln w="25400">
            <a:solidFill>
              <a:srgbClr val="14A3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FACT_ACCIDENT: 1,500,000 records  |  Referential Integrity: ✓ 0 broken foreign keys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ETL Process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234440"/>
            <a:ext cx="640080" cy="6400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file (1.5M sampled rows from 7.7M original)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1600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7377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2344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surrogate keys, NULL handling with COALESCE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600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D7377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123444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26480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 first, then Fact table with FK lookups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Transformations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1280160" cy="320040"/>
          </a:xfrm>
          <a:prstGeom prst="roundRect">
            <a:avLst>
              <a:gd name="adj" fmla="val 8571"/>
            </a:avLst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546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3154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in minutes: End_Time - Start_Time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1280160" cy="320040"/>
          </a:xfrm>
          <a:prstGeom prst="roundRect">
            <a:avLst>
              <a:gd name="adj" fmla="val 8571"/>
            </a:avLst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566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TimeOfDay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3566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Categorized: Morning (5-11), Afternoon (12-16), Evening (17-20), Night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977640"/>
            <a:ext cx="1280160" cy="320040"/>
          </a:xfrm>
          <a:prstGeom prst="roundRect">
            <a:avLst>
              <a:gd name="adj" fmla="val 8571"/>
            </a:avLst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776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Temp_Category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828800" y="39776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Bucketed: Cold (&lt;40°F), Mild (40-74°F), Hot (≥75°F)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1280160" cy="320040"/>
          </a:xfrm>
          <a:prstGeom prst="roundRect">
            <a:avLst>
              <a:gd name="adj" fmla="val 8571"/>
            </a:avLst>
          </a:pr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389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28800" y="4389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Categorized: Low (&lt;2mi), Medium (2-5mi), High (≥6mi)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OLAP Business Queries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Trend Analysis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(LAG, Moving Avg)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Danger Ranking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Calculation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Cities per State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Partitioned Ranking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11480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4069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Analysis (80/20 Rule)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43891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SUM Window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5156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123444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1188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TimeOfDay × Visibility Interaction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1508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Grouping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01168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219456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(Z-Score)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468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718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315468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4068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Cube Summary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CUBE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Q1: Month-over-Month Trend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241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accident counts changing over time per state? Compute MoM % change and 3-month moving average to identify trends.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93192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55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(Key Logic)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LAG(accidents) OVER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PARTITION BY State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BY Year, 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prev_month,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AVG(accidents) OVER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PARTITION BY State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 BY Year, 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ROWS BETWEEN 2 PRECEDING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CURRENT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ma_3mo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691640"/>
            <a:ext cx="4114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California leads with highest volume across all months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450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Seasonal patterns: accidents peak in Q4 (Oct-Dec)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7980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3-month MA smooths short-term volatility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31455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5 states: CA, FL, TX, NY, PA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34930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MoM swings of 50-250% common in smaller states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Helps traffic authorities detect rising accident patterns early, supports infrastructure planning and seasonal safety campaigns.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Q2: Weather Danger Ranking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789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weather conditions are most dangerous? Rank by composite danger score.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1148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Score Formula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(Avg Severity × 0.6) + (Avg Duration hrs × 0.4)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severity more heavily while considering traffic disruption duration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Most Dangerous Weather Conditions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965960"/>
            <a:ext cx="3931920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Combo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1965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39319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286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T-Storm + Medium Vis + Hot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06640" y="22860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633472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6334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Cloudy/Windy + High Vis + Hot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06640" y="26334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980944"/>
            <a:ext cx="39319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8094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Drizzle + High Vis + Hot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406640" y="298094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328416"/>
            <a:ext cx="393192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3284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Rain w/ Thunder + Medium + Mild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6640" y="33284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675888"/>
            <a:ext cx="393192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6758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Rain w/ Thunder + Medium + Hot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6640" y="367588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265176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2743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3017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T-Storm with Medium Visibility and Hot temperature has danger score 2x higher than the next condition due to extremely long average duration (97 hrs).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Enable targeted weather alerts, support dynamic road signage, assist insurance companies in contextual risk assessment.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&amp; Q4: Geographic Concentration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Top 3 Cities per State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ROW_NUMBER() partitioned by State to rank cities by accident count.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Cities Overall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- Miami:  36,263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762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- Los Angeles:  30,279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323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- Orlando:  21,186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88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- Atlanta:  13,214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44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- Baton Rouge:  13,781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Pareto Analysis (80/20 Rule)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percentage calculation to identify concentration.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1691640"/>
            <a:ext cx="3657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Alabama Example: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0574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Birmingham (16.5%)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Montgomery → 27.0%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Huntsville → 34.8%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Mobile → 41.7%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cities = ~50% of state accidents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Insight: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cities (15-20%) account for approximately 80% of accidents in each state. This validates Pareto-based resource allocation strategy for maximum impact.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Focus infrastructure investment and law enforcement in high-impact cities for maximum safety ROI.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Q5: TimeOfDay × Visibility Interaction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How do time of day and visibility interact to affect accident severity? Identify risky combinations.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Severe Accidents (Severity 3-4) Heatmap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645920" y="1874520"/>
            <a:ext cx="1005840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1874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874520"/>
            <a:ext cx="1005840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874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874520"/>
            <a:ext cx="1005840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874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874520"/>
            <a:ext cx="1005840" cy="32004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874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1143000" cy="411480"/>
          </a:xfrm>
          <a:prstGeom prst="rect">
            <a:avLst/>
          </a:prstGeom>
          <a:solidFill>
            <a:srgbClr val="14A3A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402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0" y="2240280"/>
            <a:ext cx="1005840" cy="4114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2240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97480" y="2240280"/>
            <a:ext cx="100584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7480" y="2240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2240280"/>
            <a:ext cx="100584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240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240280"/>
            <a:ext cx="100584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240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2697480"/>
            <a:ext cx="1143000" cy="411480"/>
          </a:xfrm>
          <a:prstGeom prst="rect">
            <a:avLst/>
          </a:prstGeom>
          <a:solidFill>
            <a:srgbClr val="14A3A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6974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645920" y="2697480"/>
            <a:ext cx="100584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0" y="26974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97480" y="2697480"/>
            <a:ext cx="100584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26974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21.9%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49040" y="2697480"/>
            <a:ext cx="100584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6974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2697480"/>
            <a:ext cx="100584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6974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154680"/>
            <a:ext cx="1143000" cy="411480"/>
          </a:xfrm>
          <a:prstGeom prst="rect">
            <a:avLst/>
          </a:prstGeom>
          <a:solidFill>
            <a:srgbClr val="14A3A8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1546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645920" y="3154680"/>
            <a:ext cx="1005840" cy="4114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0" y="31546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697480" y="3154680"/>
            <a:ext cx="100584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97480" y="31546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21.1%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749040" y="3154680"/>
            <a:ext cx="100584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31546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800600" y="3154680"/>
            <a:ext cx="1005840" cy="4114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1546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611880"/>
            <a:ext cx="1143000" cy="411480"/>
          </a:xfrm>
          <a:prstGeom prst="rect">
            <a:avLst/>
          </a:prstGeom>
          <a:solidFill>
            <a:srgbClr val="14A3A8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3611880"/>
            <a:ext cx="1143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645920" y="3611880"/>
            <a:ext cx="100584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645920" y="36118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16.0%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697480" y="3611880"/>
            <a:ext cx="100584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97480" y="36118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749040" y="3611880"/>
            <a:ext cx="100584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49040" y="36118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19.1%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00600" y="3611880"/>
            <a:ext cx="100584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36118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760720" y="1554480"/>
            <a:ext cx="2926080" cy="2514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94360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94360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Morning + Unknown Vis = HIGHEST (23.3%)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943600" y="2350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Afternoon + Low Vis = 21.9%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943600" y="273405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Night + Low Vis = LOWEST (14.6%)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943600" y="3118104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Morning consistently risky across all visibility levels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943600" y="350215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Unknown visibility correlates with higher severity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4" name="Text 62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Deploy targeted patrols during high-risk time-visibility combinations. Morning rush + any visibility requires extra attention.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Q6 &amp; Q7: Statistical &amp; OLAP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Outlier Detection (Z-Score)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cities with unusually high severity vs state average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Z-Score = (City Avg − State Mean) / State Std Dev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Severity Outliers: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3657600" cy="2743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         Avg Sev   Z-Score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- Visalia     2.533      2.7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7706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- Baker City     2.252      1.4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0266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 - Bowman     2.422      1.3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32826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- Chester     2.430      1.2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3538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- Bolingbrook     2.643      1.1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960120"/>
            <a:ext cx="40233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Q7: OLAP Cube Summary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325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cube: Year × TimeOfDay × State × Weather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CUBE generates all combinations + subtotals + grand totals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 Enables: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1945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Roll-up: City → State → National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514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Drill-down: Year → Month → Day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8346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Slice: Filter by specific dimension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Dice: Filter by multiple dimensions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4747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Pivot: Rotate analysis perspective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Value: Q6 identifies WHERE to focus (outlier cities), Q7 provides flexible framework for HOW to analyze from multiple angles.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Value: Executive dashboards with flexible multi-factor analysis. Outlier detection guides targeted interventions.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33272"/>
            <a:ext cx="502920" cy="329184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3327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03327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 with Q4 peaks; California leads consistently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47548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81912"/>
            <a:ext cx="502920" cy="329184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8191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158191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T-Storm + Medium Visibility = Most dangerous (40.1 score)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30552"/>
            <a:ext cx="502920" cy="329184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3055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13055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(36K), LA (30K), Orlando (21K) are top accident cities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8229600" cy="47548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79192"/>
            <a:ext cx="502920" cy="329184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7919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267919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15-20% of cities account for ~80% of accidents (Pareto)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27832"/>
            <a:ext cx="502920" cy="329184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278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32278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+ Unknown Visibility = Highest severity (23.3%)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703320"/>
            <a:ext cx="8229600" cy="475488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776472"/>
            <a:ext cx="502920" cy="329184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7647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377647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Visalia, CA is top outlier (Z-score: 2.7)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822960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325112"/>
            <a:ext cx="502920" cy="329184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32511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88720" y="432511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 has highest accident volume across years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69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Infrastructure Investment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441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top 3 cities per state (Q3) for maximum safety ROI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69080" y="146304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14A3A8"/>
          </a:solidFill>
          <a:ln/>
        </p:spPr>
      </p:sp>
      <p:sp>
        <p:nvSpPr>
          <p:cNvPr id="10" name="Text 8"/>
          <p:cNvSpPr/>
          <p:nvPr/>
        </p:nvSpPr>
        <p:spPr>
          <a:xfrm>
            <a:off x="4069080" y="14630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20240"/>
            <a:ext cx="73152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0299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Weather-Based Alert Systems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304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warnings during Heavy T-Storm + Medium Visibility conditions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69080" y="242316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14A3A8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24231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80360"/>
            <a:ext cx="73152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2990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Morning Patrols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32644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rush + any visibility shows highest severity rates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69080" y="338328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14A3A8"/>
          </a:solidFill>
          <a:ln/>
        </p:spPr>
      </p:sp>
      <p:sp>
        <p:nvSpPr>
          <p:cNvPr id="24" name="Text 22"/>
          <p:cNvSpPr/>
          <p:nvPr/>
        </p:nvSpPr>
        <p:spPr>
          <a:xfrm>
            <a:off x="4069080" y="33832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840480"/>
            <a:ext cx="73152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3950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Resource Allocation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22452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impact from 20% of cities – prioritize high-volume locations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069080" y="434340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14A3A8"/>
          </a:solidFill>
          <a:ln/>
        </p:spPr>
      </p:sp>
      <p:sp>
        <p:nvSpPr>
          <p:cNvPr id="31" name="Text 29"/>
          <p:cNvSpPr/>
          <p:nvPr/>
        </p:nvSpPr>
        <p:spPr>
          <a:xfrm>
            <a:off x="4069080" y="43434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9601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960120"/>
            <a:ext cx="73152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1051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257800" y="1069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Safety Campaigns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57800" y="13441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Q4 (Oct-Dec) when accident patterns peak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66760" y="146304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14A3A8"/>
          </a:solidFill>
          <a:ln/>
        </p:spPr>
      </p:sp>
      <p:sp>
        <p:nvSpPr>
          <p:cNvPr id="38" name="Text 36"/>
          <p:cNvSpPr/>
          <p:nvPr/>
        </p:nvSpPr>
        <p:spPr>
          <a:xfrm>
            <a:off x="8366760" y="14630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192024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1920240"/>
            <a:ext cx="73152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57800" y="20299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City Interventions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57800" y="23042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attention to statistical outliers like Visalia, CA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66760" y="242316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14A3A8"/>
          </a:solidFill>
          <a:ln/>
        </p:spPr>
      </p:sp>
      <p:sp>
        <p:nvSpPr>
          <p:cNvPr id="45" name="Text 43"/>
          <p:cNvSpPr/>
          <p:nvPr/>
        </p:nvSpPr>
        <p:spPr>
          <a:xfrm>
            <a:off x="8366760" y="24231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54880" y="288036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2880360"/>
            <a:ext cx="73152" cy="868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257800" y="29900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OLAP Dashboards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257800" y="32644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cube analysis for multi-factor decision making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366760" y="338328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14A3A8"/>
          </a:solidFill>
          <a:ln/>
        </p:spPr>
      </p:sp>
      <p:sp>
        <p:nvSpPr>
          <p:cNvPr id="52" name="Text 50"/>
          <p:cNvSpPr/>
          <p:nvPr/>
        </p:nvSpPr>
        <p:spPr>
          <a:xfrm>
            <a:off x="8366760" y="33832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star schema data warehouse with 1.5M accident records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4 dimension tables + 1 fact table with 0 referential integrity issues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194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7 OLAP queries answering critical business questions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06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606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advanced SQL: Window functions, CUBE, Z-scores, CTEs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017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data-driven recommendations for traffic safety improvements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11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data integration with streaming APIs    •  Predictive modeling for accident risk    •  Tableau dashboard deployment    •  Integration with weather forecast APIs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4A3A8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3200400"/>
            <a:ext cx="4572000" cy="1097280"/>
          </a:xfrm>
          <a:prstGeom prst="rect">
            <a:avLst/>
          </a:prstGeom>
          <a:solidFill>
            <a:srgbClr val="1A1A2E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Bhavesh Shah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Mohini Yadav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Project | SCU MSIS | March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Traffic Accidents Data Warehouse - Final Project</dc:title>
  <dc:subject>PptxGenJS Presentation</dc:subject>
  <dc:creator>Het Bhavesh Shah, Mohini Yadav</dc:creator>
  <cp:lastModifiedBy>Het Bhavesh Shah, Mohini Yadav</cp:lastModifiedBy>
  <cp:revision>1</cp:revision>
  <dcterms:created xsi:type="dcterms:W3CDTF">2026-03-05T19:55:28Z</dcterms:created>
  <dcterms:modified xsi:type="dcterms:W3CDTF">2026-03-05T19:55:28Z</dcterms:modified>
</cp:coreProperties>
</file>